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6161"/>
            <a:ext cx="500062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AI ADOPTION IN </a:t>
            </a:r>
            <a:r>
              <a:rPr lang="en-US" sz="4150" b="1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EUROPE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1143000" y="2259211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Experiment to Operating Model: Navigating the acceleration of enterprise intelligence.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146697" y="3359348"/>
            <a:ext cx="328255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660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20%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2146697" y="4216598"/>
            <a:ext cx="3282553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50" spc="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ENTERPRISE ADOPTION (2025)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ADOPTION IS MOVING FROM NICHE TO NORM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444823"/>
            <a:ext cx="4886325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00700" y="1507052"/>
            <a:ext cx="32575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THE ACCELERATION PHASE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600700" y="1867812"/>
            <a:ext cx="32575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adoption in the EU has more than doubled in three years, jumping from 8% in 2023 to nearly 20% in 2025.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600700" y="2770715"/>
            <a:ext cx="32575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MAINSTREAM INTEGRATION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600700" y="3131474"/>
            <a:ext cx="32575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once experimental is now a core operational requirement. Text mining and natural language generation lead the current wave of deployment.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85750" y="4611291"/>
            <a:ext cx="8572500" cy="24645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Eurostat (isoc_eb_ai), 2025. Data refers to enterprises with 10+ employees.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THE MAP IS UNEVEN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85750" y="1278731"/>
            <a:ext cx="1514642" cy="38933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653778"/>
            <a:ext cx="1514642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278731"/>
            <a:ext cx="1514642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COUNTRY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800392" y="1278731"/>
            <a:ext cx="2557295" cy="38933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Shape 5"/>
          <p:cNvSpPr/>
          <p:nvPr/>
        </p:nvSpPr>
        <p:spPr>
          <a:xfrm>
            <a:off x="1800392" y="1653778"/>
            <a:ext cx="2557295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1800392" y="1278731"/>
            <a:ext cx="2557295" cy="3893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ADOPTION RATE (2025)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85750" y="1660922"/>
            <a:ext cx="1514642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Denmark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00392" y="1660922"/>
            <a:ext cx="2557295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42.0%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5750" y="2068116"/>
            <a:ext cx="1514642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Finland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00392" y="2068116"/>
            <a:ext cx="255729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37.8%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85750" y="2478881"/>
            <a:ext cx="1514642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Sweden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00392" y="2478881"/>
            <a:ext cx="255729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35.0%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5750" y="2889647"/>
            <a:ext cx="1514642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Bulgaria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00392" y="2889647"/>
            <a:ext cx="255729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B300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8.6%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5750" y="3300413"/>
            <a:ext cx="1514642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Poland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00392" y="3300413"/>
            <a:ext cx="255729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B300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8.4%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85750" y="3711178"/>
            <a:ext cx="1514642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Romania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800392" y="3711178"/>
            <a:ext cx="2557295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B300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5.2%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93481" y="1748489"/>
            <a:ext cx="386476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The Nordic Lead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993481" y="2073529"/>
            <a:ext cx="38647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Denmark and Finland have established a significant lead, with over 1 in 3 enterprises utilizing AI technologies.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93481" y="2770715"/>
            <a:ext cx="386476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The Convergence Gap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993481" y="3095755"/>
            <a:ext cx="38647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massive 37-percentage-point spread exists between the highest and lowest adoption rates in the EU, highlighting a persistent digital divide.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85750" y="4611291"/>
            <a:ext cx="8572500" cy="24645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Eurostat (isoc_eb_ai), 2025. Data refers to enterprises with 10+ employees.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SCALE STILL DETERMINES WHO CAPTURES VALUE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278731"/>
            <a:ext cx="4071938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6313" y="1161697"/>
            <a:ext cx="857250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55%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786438" y="1436731"/>
            <a:ext cx="307181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Enterprises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half of large firms have integrated AI into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operations.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786313" y="2305310"/>
            <a:ext cx="857250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17%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786438" y="2580345"/>
            <a:ext cx="307181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Enterprises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SMEs face higher barriers to entry, including cost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talent acquisition.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786313" y="3448924"/>
            <a:ext cx="857250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FB300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3.2x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786438" y="3723959"/>
            <a:ext cx="307181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Multiplier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firms are 3.2 times more likely to use AI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 small firms.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85750" y="4611291"/>
            <a:ext cx="8572500" cy="24645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Eurostat (isoc_eb_ai), 2025. Large: 250+ employees; Small: 10-49 employees.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EUROPE’S NEXT ADVANTAGE IS RESPONSIBLE SCALE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85750" y="1428750"/>
            <a:ext cx="26669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85750" y="1825228"/>
            <a:ext cx="2666963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OPERATIONALIZE THE AI ACT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85750" y="2208088"/>
            <a:ext cx="266696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is not just a hurdle; it is a foundation for trust. Firms that lead in "Trustworthy AI" will capture the high-value regulated sectors.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38463" y="1428750"/>
            <a:ext cx="266701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38463" y="1825228"/>
            <a:ext cx="2667019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BRIDGE THE SME TALENT GAP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38463" y="2208088"/>
            <a:ext cx="266701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3.2x adoption gap is a risk to European competitiveness. Policy and industry must focus on democratizing access to AI infrastructure and talent.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91231" y="1428750"/>
            <a:ext cx="2667019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03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91231" y="1825228"/>
            <a:ext cx="266701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FOCUS ON HIGH-VALUE WORKFLOWS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91231" y="2448074"/>
            <a:ext cx="266701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 from experiment to operating model requires moving beyond simple text mining to complex, autonomous decision-making systems.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85750" y="4357688"/>
            <a:ext cx="19145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00" dirty="0">
                <a:solidFill>
                  <a:srgbClr val="00E5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2026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85750" y="4736306"/>
            <a:ext cx="19145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YEAR OF RESPONSIBLE SCALE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172200" y="4754166"/>
            <a:ext cx="26860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European Commission &amp; Eurostat 2025 reports.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2026-09-14T12:39:28Z</dcterms:created>
  <dcterms:modified xsi:type="dcterms:W3CDTF">2026-09-14T12:39:28Z</dcterms:modified>
</cp:coreProperties>
</file>